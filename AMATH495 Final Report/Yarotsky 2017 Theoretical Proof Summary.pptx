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Merriweather"/>
      <p:regular r:id="rId18"/>
      <p:bold r:id="rId19"/>
      <p:italic r:id="rId20"/>
      <p:boldItalic r:id="rId21"/>
    </p:embeddedFont>
    <p:embeddedFont>
      <p:font typeface="DM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italic.fntdata"/><Relationship Id="rId22" Type="http://schemas.openxmlformats.org/officeDocument/2006/relationships/font" Target="fonts/DMSans-regular.fntdata"/><Relationship Id="rId21" Type="http://schemas.openxmlformats.org/officeDocument/2006/relationships/font" Target="fonts/Merriweather-boldItalic.fntdata"/><Relationship Id="rId24" Type="http://schemas.openxmlformats.org/officeDocument/2006/relationships/font" Target="fonts/DMSans-italic.fntdata"/><Relationship Id="rId23" Type="http://schemas.openxmlformats.org/officeDocument/2006/relationships/font" Target="fonts/DM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erriweather-bold.fntdata"/><Relationship Id="rId18" Type="http://schemas.openxmlformats.org/officeDocument/2006/relationships/font" Target="fonts/Merriweath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388fd74b0_1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388fd74b0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406639e7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406639e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3d5692971_7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d3d5692971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406639e75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406639e7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35.png"/><Relationship Id="rId9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11.png"/><Relationship Id="rId8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34.png"/><Relationship Id="rId7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8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Relationship Id="rId5" Type="http://schemas.openxmlformats.org/officeDocument/2006/relationships/image" Target="../media/image33.png"/><Relationship Id="rId6" Type="http://schemas.openxmlformats.org/officeDocument/2006/relationships/image" Target="../media/image25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52500" y="2282130"/>
            <a:ext cx="108013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Error Bounds for Approximations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5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with Deep ReLU Networks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143000" y="4006155"/>
            <a:ext cx="100965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Constructive Proof of Expressivity (Yarotsky, 2017)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952500" y="4006155"/>
            <a:ext cx="47625" cy="42669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381625" y="961048"/>
            <a:ext cx="1428900" cy="477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60608" y="1384073"/>
            <a:ext cx="62709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Core Argument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809750" y="2509700"/>
            <a:ext cx="8572500" cy="3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Deep ReLU networks are fundamentally more efficient at approximating smooth functions than shallow networks. </a:t>
            </a:r>
            <a:endParaRPr b="0" i="0" sz="1800" u="none" cap="none" strike="noStrike">
              <a:solidFill>
                <a:srgbClr val="12121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Network Upper Bound: 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Shallow Network Lower Bound: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The paper proves this using an exact, layer-by-layer mathematical construction.</a:t>
            </a:r>
            <a:endParaRPr sz="1800"/>
          </a:p>
        </p:txBody>
      </p:sp>
      <p:pic>
        <p:nvPicPr>
          <p:cNvPr id="96" name="Google Shape;96;p14" title="{&quot;red&quot;:0,&quot;green&quot;:0,&quot;blue&quot;:0,&quot;origURL&quot;:&quot;https://www.codecogs.com/eqnedit.php?latex=O(%5Cepsilon%5E%7B-d%2Fn%7D%5Cln(1%2F%5Cepsilon))#0&quot;,&quot;size&quot;:18,&quot;width&quot;:675,&quot;height&quot;:276.70866141732284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2114" y="3688626"/>
            <a:ext cx="2227775" cy="38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title="{&quot;red&quot;:0,&quot;green&quot;:0,&quot;blue&quot;:0,&quot;origURL&quot;:&quot;https://www.codecogs.com/eqnedit.php?latex=c%5Cepsilon%5E%7B-1%2F(2(L-2))%7D#0&quot;,&quot;size&quot;:18,&quot;width&quot;:675,&quot;height&quot;:276.70866141732284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2136" y="4614400"/>
            <a:ext cx="2046799" cy="3899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028925" y="4578538"/>
            <a:ext cx="387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（F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the fixed depth L）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52575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733425" y="1648628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09625" y="1647676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foundational building block is a simple, piecewise </a:t>
            </a:r>
            <a:r>
              <a:rPr b="1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"hat"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function.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09575" y="4231036"/>
            <a:ext cx="5000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Composing this function with itself </a:t>
            </a:r>
            <a:r>
              <a:rPr b="0" i="1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times generates a </a:t>
            </a:r>
            <a:r>
              <a:rPr b="1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"sawtooth"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wave.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33425" y="4231094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0325" y="1581150"/>
            <a:ext cx="5181600" cy="39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Step 1: The Sawtooth Function</a:t>
            </a:r>
            <a:endParaRPr/>
          </a:p>
        </p:txBody>
      </p:sp>
      <p:pic>
        <p:nvPicPr>
          <p:cNvPr id="111" name="Google Shape;111;p15" title="{&quot;red&quot;:255,&quot;green&quot;:255,&quot;blue&quot;:255,&quot;origURL&quot;:&quot;https://www.codecogs.com/eqnedit.php?latex=g(x)%20%3D%20%5Cbegin%7Bcases%7D%202x%2C%20%26%20x%20%3C%20%5Cfrac%7B1%7D%7B2%7D%20%5C%5C%202(1-x)%2C%20%26%20x%20%5Cge%20%5Cfrac%7B1%7D%7B2%7D%20%5Cend%7Bcases%7D#0&quot;,&quot;size&quot;:16,&quot;width&quot;:586.8661417322835,&quot;height&quot;:33.94488188976378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5775" y="2469900"/>
            <a:ext cx="2786550" cy="7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title="{&quot;red&quot;:255,&quot;green&quot;:255,&quot;blue&quot;:255,&quot;origURL&quot;:&quot;https://www.codecogs.com/eqnedit.php?latex=g(x)%20%3D%202%5Csigma(x)%20-%204%5Csigma(x%20-%20%5Cfrac%7B1%7D%7B2%7D)%20%2B%202%5Csigma(x%20-%201)#0&quot;,&quot;size&quot;:16,&quot;width&quot;:701.7165354330708,&quot;height&quot;:33.94488188976378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5775" y="3403887"/>
            <a:ext cx="3901328" cy="485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title="{&quot;red&quot;:255,&quot;green&quot;:255,&quot;blue&quot;:255,&quot;origURL&quot;:&quot;https://www.codecogs.com/eqnedit.php?latex=g_s(x)%20%3D%20%5Cunderbrace%7Bg%20%5Ccirc%20g%20%5Ccirc%20%5Ccdots%20%5Ccirc%20g(x)%7D_%7Bs%7D#0&quot;,&quot;size&quot;:16,&quot;width&quot;:701.7165354330708,&quot;height&quot;:33.94488188976378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0975" y="5118800"/>
            <a:ext cx="2248500" cy="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09625" y="5832175"/>
            <a:ext cx="89118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lt1"/>
                </a:solidFill>
              </a:rPr>
              <a:t>Key Takeaway:</a:t>
            </a:r>
            <a:r>
              <a:rPr lang="en-US" sz="1600">
                <a:solidFill>
                  <a:schemeClr val="lt1"/>
                </a:solidFill>
              </a:rPr>
              <a:t> * A depth of O(s) generates exactly 2^(s-1) linear "hats".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Depth yields an exponential explosion of linear segments without expanding width.</a:t>
            </a:r>
            <a:endParaRPr sz="3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3429000" cy="40951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552575"/>
            <a:ext cx="3429000" cy="40951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552575"/>
            <a:ext cx="3429000" cy="409515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1230868" y="2867025"/>
            <a:ext cx="211026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Interpolation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66775" y="3438525"/>
            <a:ext cx="28384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 function f(x) = x² is first approximated by piecewise linear interpolation on a very coarse grid.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160883" y="2867025"/>
            <a:ext cx="187023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Refinement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76775" y="3438525"/>
            <a:ext cx="283845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The error between a coarse and fine interpolation is exactly proportional to the previously defined sawtooth function.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535828" y="2867025"/>
            <a:ext cx="274034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Logarithmic Cost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86775" y="3438525"/>
            <a:ext cx="283845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By summing </a:t>
            </a:r>
            <a:r>
              <a:rPr b="0" i="1" lang="en-US" sz="16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b="0" i="0" lang="en-US" sz="16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scaled sawtooths, x² is ε-approximated using highly efficient depth and size </a:t>
            </a:r>
            <a:r>
              <a:rPr b="0" i="1" lang="en-US" sz="16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O(ln(1/ε))</a:t>
            </a:r>
            <a:r>
              <a:rPr b="0" i="0" lang="en-US" sz="16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24062" y="2009775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67387" y="2009775"/>
            <a:ext cx="6572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4062" y="2009775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Step 2: Approximating Squaring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5238750" cy="3682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52575"/>
            <a:ext cx="5238750" cy="3682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796307"/>
            <a:ext cx="447675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952500" y="1933575"/>
            <a:ext cx="47005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Algebraic Reduction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952500" y="2505075"/>
            <a:ext cx="4476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Multiplication of two independent variables is elegantly reduced to addition and squaring via the classic identity: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762750" y="1933575"/>
            <a:ext cx="47005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Network Complexity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762750" y="2505075"/>
            <a:ext cx="4476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Since exact addition is trivial for a standard ReLU node, and our approximate squaring requires only logarithmic depth.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762750" y="3653432"/>
            <a:ext cx="4476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 can construct a highly accurate 2D multiplier network with an overall logarithmic depth complexity.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69355" y="3990082"/>
            <a:ext cx="3843039" cy="38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Step 3: Approximate Multiplication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52575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733425" y="192738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09625" y="1926431"/>
            <a:ext cx="50006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For a generic smooth function in a Sobolev space, the multi-dimensional domain is sliced into a fine grid.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733425" y="3123366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09625" y="3122414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Inside each grid cell, the function is approximated by a local </a:t>
            </a:r>
            <a:r>
              <a:rPr b="1" i="0" lang="en-US" sz="16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Taylor polynomial</a:t>
            </a:r>
            <a:r>
              <a:rPr b="0" i="0" lang="en-US" sz="16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33425" y="3984188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809625" y="3983235"/>
            <a:ext cx="50006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b="1" i="0" lang="en-US" sz="16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"Partition of Unity"</a:t>
            </a:r>
            <a:r>
              <a:rPr b="0" i="0" lang="en-US" sz="1650" u="none" cap="none" strike="noStrike">
                <a:solidFill>
                  <a:srgbClr val="121212"/>
                </a:solidFill>
                <a:latin typeface="DM Sans"/>
                <a:ea typeface="DM Sans"/>
                <a:cs typeface="DM Sans"/>
                <a:sym typeface="DM Sans"/>
              </a:rPr>
              <a:t> (a set of specialized blending functions) stitches these local polynomials together smoothly.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0325" y="1581150"/>
            <a:ext cx="5181600" cy="39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Step 4: Taylor &amp; Partition of Unity</a:t>
            </a:r>
            <a:endParaRPr/>
          </a:p>
        </p:txBody>
      </p:sp>
      <p:pic>
        <p:nvPicPr>
          <p:cNvPr id="162" name="Google Shape;162;p18" title="{&quot;red&quot;:0,&quot;green&quot;:0,&quot;blue&quot;:0,&quot;origURL&quot;:&quot;https://www.codecogs.com/eqnedit.php?latex=f_1(x)%20%3D%20%5Csum_%7Bm%7D%20%5Cphi_m(x)%20P_m(x)#0&quot;,&quot;size&quot;:16,&quot;width&quot;:677.6456692913385,&quot;height&quot;:33.94488188976378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63075" y="5179224"/>
            <a:ext cx="2893718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5875" y="1552575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1600200"/>
            <a:ext cx="3714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6381750" y="1593056"/>
            <a:ext cx="55006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Chaining the Multipliers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381750" y="2164556"/>
            <a:ext cx="5238900" cy="10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Chaining the Multipliers: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The final network computes local Taylor polynomials by chaining the logarithmic-depth approximate multipliers.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6381750" y="3312914"/>
            <a:ext cx="52389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Partition of Unity Assembly: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These local polynomials are seamlessly blended by Partition of Unity functions to construct the global continuous output.</a:t>
            </a:r>
            <a:endParaRPr sz="16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6381750" y="4508896"/>
            <a:ext cx="5238900" cy="16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Theorem 1 Result: Network Complexity Bounds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Required Depth:</a:t>
            </a:r>
            <a:endParaRPr i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Total Weights &amp; Units: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(Depends on domain dimension d and function smoothness n)</a:t>
            </a:r>
            <a:endParaRPr b="1" sz="21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Step 5: Final Network Assembly</a:t>
            </a:r>
            <a:endParaRPr/>
          </a:p>
        </p:txBody>
      </p:sp>
      <p:pic>
        <p:nvPicPr>
          <p:cNvPr id="175" name="Google Shape;175;p19" title="{&quot;red&quot;:255,&quot;green&quot;:255,&quot;blue&quot;:255,&quot;origURL&quot;:&quot;https://www.codecogs.com/eqnedit.php?latex=O(%5Cln(1%2F%5Cepsilon))#0&quot;,&quot;size&quot;:16,&quot;width&quot;:419.0787401574803,&quot;height&quot;:33.94488188976378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08500" y="4943375"/>
            <a:ext cx="990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title="{&quot;red&quot;:255,&quot;green&quot;:255,&quot;blue&quot;:255,&quot;origURL&quot;:&quot;https://www.codecogs.com/eqnedit.php?latex=O(%5Cepsilon%5E%7B-d%2Fn%7D%20%5Cln(1%2F%5Cepsilon))#0&quot;,&quot;size&quot;:16,&quot;width&quot;:701.7165354330708,&quot;height&quot;:33.94488188976378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65475" y="5219763"/>
            <a:ext cx="1514856" cy="26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04975"/>
            <a:ext cx="3492549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704975"/>
            <a:ext cx="3492549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704975"/>
            <a:ext cx="3492549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744218" y="5000625"/>
            <a:ext cx="314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1128"/>
                </a:solidFill>
                <a:latin typeface="Merriweather"/>
                <a:ea typeface="Merriweather"/>
                <a:cs typeface="Merriweather"/>
                <a:sym typeface="Merriweather"/>
              </a:rPr>
              <a:t>Deep Networks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19150" y="5486400"/>
            <a:ext cx="2997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Unbounded Depth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4522518" y="5000625"/>
            <a:ext cx="314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1128"/>
                </a:solidFill>
                <a:latin typeface="Merriweather"/>
                <a:ea typeface="Merriweather"/>
                <a:cs typeface="Merriweather"/>
                <a:sym typeface="Merriweather"/>
              </a:rPr>
              <a:t>Shallow (Depth=4)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4597449" y="5486400"/>
            <a:ext cx="2997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Exactly 2 Hidden Layers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8300817" y="5000625"/>
            <a:ext cx="314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1128"/>
                </a:solidFill>
                <a:latin typeface="Merriweather"/>
                <a:ea typeface="Merriweather"/>
                <a:cs typeface="Merriweather"/>
                <a:sym typeface="Merriweather"/>
              </a:rPr>
              <a:t>Shallow (Depth=3)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8375749" y="5486400"/>
            <a:ext cx="2997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Exactly 1 Hidden Layer</a:t>
            </a:r>
            <a:endParaRPr/>
          </a:p>
        </p:txBody>
      </p:sp>
      <p:pic>
        <p:nvPicPr>
          <p:cNvPr descr="image.png" id="191" name="Google Shape;19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1952625"/>
            <a:ext cx="299724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97449" y="1952625"/>
            <a:ext cx="299724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75749" y="1952625"/>
            <a:ext cx="2997249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A1128"/>
                </a:solidFill>
                <a:latin typeface="Merriweather"/>
                <a:ea typeface="Merriweather"/>
                <a:cs typeface="Merriweather"/>
                <a:sym typeface="Merriweather"/>
              </a:rPr>
              <a:t>Deep vs. Shallow Complexity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71500" y="1190625"/>
            <a:ext cx="11049000" cy="28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295275" y="1277737"/>
            <a:ext cx="11601600" cy="9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75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1809750" y="2648200"/>
            <a:ext cx="8733000" cy="29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lt1"/>
                </a:solidFill>
              </a:rPr>
              <a:t>The Expressive Power of Depth</a:t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Depth acts as a space-folding multiplier:</a:t>
            </a:r>
            <a:r>
              <a:rPr lang="en-US" sz="1600">
                <a:solidFill>
                  <a:schemeClr val="lt1"/>
                </a:solidFill>
              </a:rPr>
              <a:t> By repeatedly composing the ReLU function (the "sawtooth" mechanism), deep networks generate an exponential number of linear regions with only logarithmic depth.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Deep is strictly more efficient than shallow:</a:t>
            </a:r>
            <a:r>
              <a:rPr lang="en-US" sz="1600">
                <a:solidFill>
                  <a:schemeClr val="lt1"/>
                </a:solidFill>
              </a:rPr>
              <a:t> For sufficiently smooth functions, artificially constraining network depth forces a severe, provable polynomial explosion in the required network width.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The Curse of Dimensionality persists, but is mitigated:</a:t>
            </a:r>
            <a:r>
              <a:rPr lang="en-US" sz="1600">
                <a:solidFill>
                  <a:schemeClr val="lt1"/>
                </a:solidFill>
              </a:rPr>
              <a:t> While depth drastically improves efficiency, the overall network size                              remains bounded by the input dimension d.</a:t>
            </a:r>
            <a:endParaRPr sz="29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03" name="Google Shape;203;p21" title="{&quot;red&quot;:255,&quot;green&quot;:255,&quot;blue&quot;:255,&quot;origURL&quot;:&quot;https://www.codecogs.com/eqnedit.php?latex=O(%5Cepsilon%5E%7B-d%2Fn%7D%20%5Cln(1%2F%5Cepsilon))#0&quot;,&quot;size&quot;:16,&quot;width&quot;:675,&quot;height&quot;:232.2283464566929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6450" y="5332312"/>
            <a:ext cx="1514856" cy="26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为最后一页添加一个reference页面：Slide Title: ReferencesPrimary Source:Yarotsky, D. (2017). Error bounds for approximations with deep ReLU networks. Neural Networks, 94, 103-114. Key Supporting Literature:Telgarsky, M. (2015). Representation Benefits of Deep Feedforward Networks. ArXiv Preprint ArXiv: 1509.08101. &#10;(Referenced for the &quot;sawtooth&quot; function construction and the counting lemma for shallow networks)Mhaskar, H. N. (1993). Approximation properties of a multilayered feedforward artificial neural network. Advances in Computational Mathematics, 1(1), 61-80. &#10;(Referenced for polynomial approximation techniques and partition of unity)Liang, S., &amp; Srikant, R. (2016). Why Deep Neural Networks? ArXiv Preprint ArXiv: 1610.04161. &#10;(Referenced for comparative lower bounds on shallow networks approximating convex functions)Anthony, M., &amp; Bartlett, P. L. (2009). Neural network learning: Theoretical foundations. Cambridge University Press. &#10;(Referenced for standard measures of network complexity and VC-dimension bounds)" id="208" name="Google Shape;2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让最后一页的image sources的图片分布更大，更均匀" id="213" name="Google Shape;21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4"/>
          <p:cNvPicPr preferRelativeResize="0"/>
          <p:nvPr/>
        </p:nvPicPr>
        <p:blipFill rotWithShape="1">
          <a:blip r:embed="rId3">
            <a:alphaModFix/>
          </a:blip>
          <a:srcRect b="0" l="387" r="387" t="0"/>
          <a:stretch/>
        </p:blipFill>
        <p:spPr>
          <a:xfrm>
            <a:off x="0" y="0"/>
            <a:ext cx="12192000" cy="6863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